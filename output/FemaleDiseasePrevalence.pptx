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9" r:id="rId3"/>
    <p:sldId id="270" r:id="rId4"/>
    <p:sldId id="266" r:id="rId5"/>
    <p:sldId id="267" r:id="rId6"/>
    <p:sldId id="268" r:id="rId7"/>
    <p:sldId id="269"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0" autoAdjust="0"/>
  </p:normalViewPr>
  <p:slideViewPr>
    <p:cSldViewPr snapToGrid="0" snapToObjects="1">
      <p:cViewPr varScale="1">
        <p:scale>
          <a:sx n="111" d="100"/>
          <a:sy n="111" d="100"/>
        </p:scale>
        <p:origin x="5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7E3CE9-403E-4C33-81A7-A53D3DC51236}" type="datetimeFigureOut">
              <a:rPr lang="en-GB" smtClean="0"/>
              <a:t>29/05/2026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55439-055D-47F9-8294-741DF6860437}" type="slidenum">
              <a:rPr lang="en-GB" smtClean="0"/>
              <a:t>‹#›</a:t>
            </a:fld>
            <a:endParaRPr lang="en-GB"/>
          </a:p>
        </p:txBody>
      </p:sp>
    </p:spTree>
    <p:extLst>
      <p:ext uri="{BB962C8B-B14F-4D97-AF65-F5344CB8AC3E}">
        <p14:creationId xmlns:p14="http://schemas.microsoft.com/office/powerpoint/2010/main" val="640547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255439-055D-47F9-8294-741DF6860437}" type="slidenum">
              <a:rPr lang="en-GB" smtClean="0"/>
              <a:t>1</a:t>
            </a:fld>
            <a:endParaRPr lang="en-GB"/>
          </a:p>
        </p:txBody>
      </p:sp>
    </p:spTree>
    <p:extLst>
      <p:ext uri="{BB962C8B-B14F-4D97-AF65-F5344CB8AC3E}">
        <p14:creationId xmlns:p14="http://schemas.microsoft.com/office/powerpoint/2010/main" val="1284601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B56"/>
        </a:solidFill>
        <a:effectLst/>
      </p:bgPr>
    </p:bg>
    <p:spTree>
      <p:nvGrpSpPr>
        <p:cNvPr id="1" name=""/>
        <p:cNvGrpSpPr/>
        <p:nvPr/>
      </p:nvGrpSpPr>
      <p:grpSpPr>
        <a:xfrm>
          <a:off x="0" y="0"/>
          <a:ext cx="0" cy="0"/>
          <a:chOff x="0" y="0"/>
          <a:chExt cx="0" cy="0"/>
        </a:xfrm>
      </p:grpSpPr>
      <p:sp>
        <p:nvSpPr>
          <p:cNvPr id="2" name="TextBox 1"/>
          <p:cNvSpPr txBox="1"/>
          <p:nvPr/>
        </p:nvSpPr>
        <p:spPr>
          <a:xfrm>
            <a:off x="822960" y="3318734"/>
            <a:ext cx="10515600" cy="1477328"/>
          </a:xfrm>
          <a:prstGeom prst="rect">
            <a:avLst/>
          </a:prstGeom>
          <a:noFill/>
        </p:spPr>
        <p:txBody>
          <a:bodyPr wrap="square" lIns="0" tIns="0" rIns="0" bIns="0" anchor="t">
            <a:spAutoFit/>
          </a:bodyPr>
          <a:lstStyle/>
          <a:p>
            <a:pPr algn="l"/>
            <a:r>
              <a:rPr sz="4800" b="1" dirty="0">
                <a:solidFill>
                  <a:schemeClr val="accent6">
                    <a:lumMod val="20000"/>
                    <a:lumOff val="80000"/>
                  </a:schemeClr>
                </a:solidFill>
                <a:latin typeface="Calibri"/>
              </a:rPr>
              <a:t>Diabetes was the question.
The answer is much bigger than diabetes.</a:t>
            </a:r>
          </a:p>
        </p:txBody>
      </p:sp>
      <p:sp>
        <p:nvSpPr>
          <p:cNvPr id="4" name="TextBox 3"/>
          <p:cNvSpPr txBox="1"/>
          <p:nvPr/>
        </p:nvSpPr>
        <p:spPr>
          <a:xfrm>
            <a:off x="822960" y="5443370"/>
            <a:ext cx="10515600" cy="369332"/>
          </a:xfrm>
          <a:prstGeom prst="rect">
            <a:avLst/>
          </a:prstGeom>
          <a:noFill/>
        </p:spPr>
        <p:txBody>
          <a:bodyPr wrap="square" lIns="0" tIns="0" rIns="0" bIns="0" anchor="t">
            <a:spAutoFit/>
          </a:bodyPr>
          <a:lstStyle/>
          <a:p>
            <a:pPr algn="l"/>
            <a:r>
              <a:rPr lang="en-GB" sz="2400" b="0" dirty="0">
                <a:solidFill>
                  <a:srgbClr val="E8A838"/>
                </a:solidFill>
                <a:latin typeface="Calibri"/>
              </a:rPr>
              <a:t>Answer by Joanna Imasiku</a:t>
            </a:r>
            <a:endParaRPr sz="2400" b="0" dirty="0">
              <a:solidFill>
                <a:srgbClr val="E8A838"/>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11" name="Rounded Rectangle 10"/>
          <p:cNvSpPr/>
          <p:nvPr/>
        </p:nvSpPr>
        <p:spPr>
          <a:xfrm>
            <a:off x="477365" y="3546376"/>
            <a:ext cx="11073656" cy="1990122"/>
          </a:xfrm>
          <a:prstGeom prst="roundRect">
            <a:avLst>
              <a:gd name="adj" fmla="val 6000"/>
            </a:avLst>
          </a:prstGeom>
          <a:solidFill>
            <a:srgbClr val="F3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198" y="627695"/>
            <a:ext cx="6715461" cy="492443"/>
          </a:xfrm>
          <a:prstGeom prst="rect">
            <a:avLst/>
          </a:prstGeom>
          <a:noFill/>
        </p:spPr>
        <p:txBody>
          <a:bodyPr wrap="square" lIns="0" tIns="0" rIns="0" bIns="0" anchor="t">
            <a:spAutoFit/>
          </a:bodyPr>
          <a:lstStyle/>
          <a:p>
            <a:r>
              <a:rPr lang="en-GB" sz="3200" b="1" dirty="0">
                <a:solidFill>
                  <a:srgbClr val="3D2B56"/>
                </a:solidFill>
              </a:rPr>
              <a:t>five conditions, one pattern</a:t>
            </a:r>
          </a:p>
        </p:txBody>
      </p:sp>
      <p:sp>
        <p:nvSpPr>
          <p:cNvPr id="4" name="TextBox 3"/>
          <p:cNvSpPr txBox="1"/>
          <p:nvPr/>
        </p:nvSpPr>
        <p:spPr>
          <a:xfrm>
            <a:off x="457196" y="1256039"/>
            <a:ext cx="11093825" cy="2154436"/>
          </a:xfrm>
          <a:prstGeom prst="rect">
            <a:avLst/>
          </a:prstGeom>
          <a:noFill/>
        </p:spPr>
        <p:txBody>
          <a:bodyPr wrap="square" lIns="0" tIns="0" rIns="0" bIns="0" anchor="t">
            <a:spAutoFit/>
          </a:bodyPr>
          <a:lstStyle/>
          <a:p>
            <a:pPr marL="457200" indent="-457200">
              <a:buFont typeface="Arial" panose="020B0604020202020204" pitchFamily="34" charset="0"/>
              <a:buChar char="•"/>
            </a:pPr>
            <a:r>
              <a:rPr lang="en-GB" sz="2800" dirty="0">
                <a:solidFill>
                  <a:srgbClr val="6B6B6B"/>
                </a:solidFill>
                <a:latin typeface="Calibri"/>
              </a:rPr>
              <a:t>Systemic Lupus Erythematosus</a:t>
            </a:r>
          </a:p>
          <a:p>
            <a:pPr marL="457200" indent="-457200">
              <a:buFont typeface="Arial" panose="020B0604020202020204" pitchFamily="34" charset="0"/>
              <a:buChar char="•"/>
            </a:pPr>
            <a:r>
              <a:rPr lang="en-GB" sz="2800" dirty="0">
                <a:solidFill>
                  <a:srgbClr val="6B6B6B"/>
                </a:solidFill>
                <a:latin typeface="Calibri"/>
              </a:rPr>
              <a:t>Osteoporosis</a:t>
            </a:r>
          </a:p>
          <a:p>
            <a:pPr marL="457200" indent="-457200">
              <a:buFont typeface="Arial" panose="020B0604020202020204" pitchFamily="34" charset="0"/>
              <a:buChar char="•"/>
            </a:pPr>
            <a:r>
              <a:rPr lang="en-GB" sz="2800" dirty="0">
                <a:solidFill>
                  <a:srgbClr val="6B6B6B"/>
                </a:solidFill>
                <a:latin typeface="Calibri"/>
              </a:rPr>
              <a:t>Migraine</a:t>
            </a:r>
          </a:p>
          <a:p>
            <a:pPr marL="457200" indent="-457200">
              <a:buFont typeface="Arial" panose="020B0604020202020204" pitchFamily="34" charset="0"/>
              <a:buChar char="•"/>
            </a:pPr>
            <a:r>
              <a:rPr lang="en-GB" sz="2800" dirty="0">
                <a:solidFill>
                  <a:srgbClr val="6B6B6B"/>
                </a:solidFill>
                <a:latin typeface="Calibri"/>
              </a:rPr>
              <a:t>Major Depression</a:t>
            </a:r>
          </a:p>
          <a:p>
            <a:pPr marL="457200" indent="-457200">
              <a:buFont typeface="Arial" panose="020B0604020202020204" pitchFamily="34" charset="0"/>
              <a:buChar char="•"/>
            </a:pPr>
            <a:r>
              <a:rPr lang="en-GB" sz="2800" dirty="0">
                <a:solidFill>
                  <a:srgbClr val="6B6B6B"/>
                </a:solidFill>
                <a:latin typeface="Calibri"/>
              </a:rPr>
              <a:t>Alzheimer's disease</a:t>
            </a:r>
          </a:p>
        </p:txBody>
      </p:sp>
      <p:cxnSp>
        <p:nvCxnSpPr>
          <p:cNvPr id="9" name="Connector 8"/>
          <p:cNvCxnSpPr/>
          <p:nvPr/>
        </p:nvCxnSpPr>
        <p:spPr>
          <a:xfrm>
            <a:off x="457198" y="6039630"/>
            <a:ext cx="11093824" cy="16136"/>
          </a:xfrm>
          <a:prstGeom prst="line">
            <a:avLst/>
          </a:prstGeom>
          <a:ln w="6350">
            <a:solidFill>
              <a:srgbClr val="E0D8F0"/>
            </a:solidFill>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477366" y="3802773"/>
            <a:ext cx="11073656" cy="1477328"/>
          </a:xfrm>
          <a:prstGeom prst="rect">
            <a:avLst/>
          </a:prstGeom>
          <a:noFill/>
        </p:spPr>
        <p:txBody>
          <a:bodyPr wrap="square" rtlCol="0">
            <a:spAutoFit/>
          </a:bodyPr>
          <a:lstStyle/>
          <a:p>
            <a:r>
              <a:rPr lang="en-GB" sz="2400" dirty="0">
                <a:solidFill>
                  <a:srgbClr val="6B6B6B"/>
                </a:solidFill>
              </a:rPr>
              <a:t>The same female-skewed health burden that shows up in Zambia's diabetes numbers runs through five of the most disabling diseases of modern life and the world still designs medicine, research and screening as if it didn't.</a:t>
            </a:r>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2" name="Rounded Rectangle 1"/>
          <p:cNvSpPr/>
          <p:nvPr/>
        </p:nvSpPr>
        <p:spPr>
          <a:xfrm>
            <a:off x="457199" y="381898"/>
            <a:ext cx="11214847" cy="365760"/>
          </a:xfrm>
          <a:prstGeom prst="roundRect">
            <a:avLst>
              <a:gd name="adj" fmla="val 50000"/>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dirty="0">
                <a:solidFill>
                  <a:srgbClr val="534AB7"/>
                </a:solidFill>
                <a:latin typeface="Calibri"/>
              </a:rPr>
              <a:t>AUTOIMMUNE</a:t>
            </a:r>
          </a:p>
        </p:txBody>
      </p:sp>
      <p:sp>
        <p:nvSpPr>
          <p:cNvPr id="3" name="TextBox 2"/>
          <p:cNvSpPr txBox="1"/>
          <p:nvPr/>
        </p:nvSpPr>
        <p:spPr>
          <a:xfrm>
            <a:off x="457198" y="1290599"/>
            <a:ext cx="6715461" cy="492443"/>
          </a:xfrm>
          <a:prstGeom prst="rect">
            <a:avLst/>
          </a:prstGeom>
          <a:noFill/>
        </p:spPr>
        <p:txBody>
          <a:bodyPr wrap="square" lIns="0" tIns="0" rIns="0" bIns="0" anchor="t">
            <a:spAutoFit/>
          </a:bodyPr>
          <a:lstStyle/>
          <a:p>
            <a:r>
              <a:rPr sz="3200" b="1" dirty="0">
                <a:solidFill>
                  <a:srgbClr val="3D2B56"/>
                </a:solidFill>
                <a:latin typeface="Calibri"/>
              </a:rPr>
              <a:t>Systemic Lupus Erythematosus (Lupus)</a:t>
            </a:r>
          </a:p>
        </p:txBody>
      </p:sp>
      <p:sp>
        <p:nvSpPr>
          <p:cNvPr id="4" name="TextBox 3"/>
          <p:cNvSpPr txBox="1"/>
          <p:nvPr/>
        </p:nvSpPr>
        <p:spPr>
          <a:xfrm>
            <a:off x="457200" y="1993820"/>
            <a:ext cx="6715462" cy="1292662"/>
          </a:xfrm>
          <a:prstGeom prst="rect">
            <a:avLst/>
          </a:prstGeom>
          <a:noFill/>
        </p:spPr>
        <p:txBody>
          <a:bodyPr wrap="square" lIns="0" tIns="0" rIns="0" bIns="0" anchor="t">
            <a:spAutoFit/>
          </a:bodyPr>
          <a:lstStyle/>
          <a:p>
            <a:pPr algn="l"/>
            <a:r>
              <a:rPr sz="2800" b="0" dirty="0">
                <a:solidFill>
                  <a:srgbClr val="6B6B6B"/>
                </a:solidFill>
                <a:latin typeface="Calibri"/>
              </a:rPr>
              <a:t>A chronic autoimmune disease where the body's immune system attacks its own tissues — skin, joints, kidneys, heart and brain.</a:t>
            </a:r>
          </a:p>
        </p:txBody>
      </p:sp>
      <p:sp>
        <p:nvSpPr>
          <p:cNvPr id="5" name="Rounded Rectangle 4"/>
          <p:cNvSpPr/>
          <p:nvPr/>
        </p:nvSpPr>
        <p:spPr>
          <a:xfrm>
            <a:off x="7697096" y="1410617"/>
            <a:ext cx="3974950" cy="2389206"/>
          </a:xfrm>
          <a:prstGeom prst="roundRect">
            <a:avLst>
              <a:gd name="adj" fmla="val 6000"/>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1531" y="1596376"/>
            <a:ext cx="2926080" cy="276999"/>
          </a:xfrm>
          <a:prstGeom prst="rect">
            <a:avLst/>
          </a:prstGeom>
          <a:noFill/>
        </p:spPr>
        <p:txBody>
          <a:bodyPr wrap="square" lIns="0" tIns="0" rIns="0" bIns="0" anchor="t">
            <a:spAutoFit/>
          </a:bodyPr>
          <a:lstStyle/>
          <a:p>
            <a:pPr algn="ctr"/>
            <a:r>
              <a:rPr b="1" dirty="0">
                <a:solidFill>
                  <a:srgbClr val="633806"/>
                </a:solidFill>
                <a:latin typeface="Calibri"/>
              </a:rPr>
              <a:t>FEMALE-TO-MALE RATIO</a:t>
            </a:r>
          </a:p>
        </p:txBody>
      </p:sp>
      <p:sp>
        <p:nvSpPr>
          <p:cNvPr id="7" name="TextBox 6"/>
          <p:cNvSpPr txBox="1"/>
          <p:nvPr/>
        </p:nvSpPr>
        <p:spPr>
          <a:xfrm>
            <a:off x="8221531" y="1966254"/>
            <a:ext cx="2926080" cy="1077218"/>
          </a:xfrm>
          <a:prstGeom prst="rect">
            <a:avLst/>
          </a:prstGeom>
          <a:noFill/>
        </p:spPr>
        <p:txBody>
          <a:bodyPr wrap="square" lIns="0" tIns="0" rIns="0" bIns="0" anchor="t">
            <a:spAutoFit/>
          </a:bodyPr>
          <a:lstStyle/>
          <a:p>
            <a:pPr algn="ctr"/>
            <a:r>
              <a:rPr sz="7000" b="1" dirty="0">
                <a:solidFill>
                  <a:srgbClr val="BA7517"/>
                </a:solidFill>
                <a:latin typeface="Calibri"/>
              </a:rPr>
              <a:t>9:1</a:t>
            </a:r>
          </a:p>
        </p:txBody>
      </p:sp>
      <p:sp>
        <p:nvSpPr>
          <p:cNvPr id="8" name="TextBox 7"/>
          <p:cNvSpPr txBox="1"/>
          <p:nvPr/>
        </p:nvSpPr>
        <p:spPr>
          <a:xfrm>
            <a:off x="8221531" y="3136352"/>
            <a:ext cx="2926080" cy="553998"/>
          </a:xfrm>
          <a:prstGeom prst="rect">
            <a:avLst/>
          </a:prstGeom>
          <a:noFill/>
        </p:spPr>
        <p:txBody>
          <a:bodyPr wrap="square" lIns="0" tIns="0" rIns="0" bIns="0" anchor="t">
            <a:spAutoFit/>
          </a:bodyPr>
          <a:lstStyle/>
          <a:p>
            <a:pPr algn="ctr"/>
            <a:r>
              <a:rPr b="0" dirty="0">
                <a:solidFill>
                  <a:srgbClr val="854F0B"/>
                </a:solidFill>
                <a:latin typeface="Calibri"/>
              </a:rPr>
              <a:t>Nine out of every ten people living with lupus are women.</a:t>
            </a:r>
          </a:p>
        </p:txBody>
      </p:sp>
      <p:cxnSp>
        <p:nvCxnSpPr>
          <p:cNvPr id="9" name="Connector 8"/>
          <p:cNvCxnSpPr/>
          <p:nvPr/>
        </p:nvCxnSpPr>
        <p:spPr>
          <a:xfrm>
            <a:off x="457198" y="6039630"/>
            <a:ext cx="11093824" cy="16136"/>
          </a:xfrm>
          <a:prstGeom prst="line">
            <a:avLst/>
          </a:prstGeom>
          <a:ln w="6350">
            <a:solidFill>
              <a:srgbClr val="E0D8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6492240"/>
            <a:ext cx="8229600" cy="365760"/>
          </a:xfrm>
          <a:prstGeom prst="rect">
            <a:avLst/>
          </a:prstGeom>
          <a:noFill/>
        </p:spPr>
        <p:txBody>
          <a:bodyPr wrap="square" lIns="0" tIns="0" rIns="0" bIns="0">
            <a:spAutoFit/>
          </a:bodyPr>
          <a:lstStyle/>
          <a:p>
            <a:pPr algn="l"/>
            <a:r>
              <a:rPr sz="900" dirty="0">
                <a:solidFill>
                  <a:srgbClr val="AAAAAA"/>
                </a:solidFill>
                <a:latin typeface="Calibri"/>
              </a:rPr>
              <a:t>[1] Sex- and gender-related differences in systemic lupus erythematosus: a scoping review (PMC, 2024) · https://pmc.ncbi.nlm.nih.gov/articles/PMC12204902/</a:t>
            </a:r>
          </a:p>
        </p:txBody>
      </p:sp>
    </p:spTree>
    <p:extLst>
      <p:ext uri="{BB962C8B-B14F-4D97-AF65-F5344CB8AC3E}">
        <p14:creationId xmlns:p14="http://schemas.microsoft.com/office/powerpoint/2010/main" val="1209601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2" name="Rounded Rectangle 1"/>
          <p:cNvSpPr/>
          <p:nvPr/>
        </p:nvSpPr>
        <p:spPr>
          <a:xfrm>
            <a:off x="396686" y="381898"/>
            <a:ext cx="11214847" cy="365760"/>
          </a:xfrm>
          <a:prstGeom prst="roundRect">
            <a:avLst>
              <a:gd name="adj" fmla="val 50000"/>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600" b="1" dirty="0">
                <a:solidFill>
                  <a:srgbClr val="534AB7"/>
                </a:solidFill>
              </a:rPr>
              <a:t>MUSCULOSKELETAL</a:t>
            </a:r>
          </a:p>
        </p:txBody>
      </p:sp>
      <p:sp>
        <p:nvSpPr>
          <p:cNvPr id="3" name="TextBox 2"/>
          <p:cNvSpPr txBox="1"/>
          <p:nvPr/>
        </p:nvSpPr>
        <p:spPr>
          <a:xfrm>
            <a:off x="457199" y="1253057"/>
            <a:ext cx="6715461" cy="492443"/>
          </a:xfrm>
          <a:prstGeom prst="rect">
            <a:avLst/>
          </a:prstGeom>
          <a:noFill/>
        </p:spPr>
        <p:txBody>
          <a:bodyPr wrap="square" lIns="0" tIns="0" rIns="0" bIns="0" anchor="t">
            <a:spAutoFit/>
          </a:bodyPr>
          <a:lstStyle/>
          <a:p>
            <a:r>
              <a:rPr lang="en-GB" sz="3200" b="1" dirty="0">
                <a:solidFill>
                  <a:srgbClr val="3D2B56"/>
                </a:solidFill>
              </a:rPr>
              <a:t>Osteoporosis</a:t>
            </a:r>
          </a:p>
        </p:txBody>
      </p:sp>
      <p:sp>
        <p:nvSpPr>
          <p:cNvPr id="4" name="TextBox 3"/>
          <p:cNvSpPr txBox="1"/>
          <p:nvPr/>
        </p:nvSpPr>
        <p:spPr>
          <a:xfrm>
            <a:off x="457198" y="1985497"/>
            <a:ext cx="6715462" cy="1292662"/>
          </a:xfrm>
          <a:prstGeom prst="rect">
            <a:avLst/>
          </a:prstGeom>
          <a:noFill/>
        </p:spPr>
        <p:txBody>
          <a:bodyPr wrap="square" lIns="0" tIns="0" rIns="0" bIns="0" anchor="t">
            <a:spAutoFit/>
          </a:bodyPr>
          <a:lstStyle/>
          <a:p>
            <a:r>
              <a:rPr lang="en-GB" sz="2800" dirty="0">
                <a:solidFill>
                  <a:srgbClr val="6B6B6B"/>
                </a:solidFill>
              </a:rPr>
              <a:t>A silent bone-thinning disease that makes fractures much more likely after age 50 often discovered only after a broken hip or wrist</a:t>
            </a:r>
            <a:r>
              <a:rPr sz="2800" b="0" dirty="0">
                <a:solidFill>
                  <a:srgbClr val="6B6B6B"/>
                </a:solidFill>
                <a:latin typeface="Calibri"/>
              </a:rPr>
              <a:t>.</a:t>
            </a:r>
          </a:p>
        </p:txBody>
      </p:sp>
      <p:sp>
        <p:nvSpPr>
          <p:cNvPr id="5" name="Rounded Rectangle 4"/>
          <p:cNvSpPr/>
          <p:nvPr/>
        </p:nvSpPr>
        <p:spPr>
          <a:xfrm>
            <a:off x="7697096" y="1253848"/>
            <a:ext cx="3974950" cy="2389206"/>
          </a:xfrm>
          <a:prstGeom prst="roundRect">
            <a:avLst>
              <a:gd name="adj" fmla="val 6000"/>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18842" y="1416357"/>
            <a:ext cx="2926080" cy="276999"/>
          </a:xfrm>
          <a:prstGeom prst="rect">
            <a:avLst/>
          </a:prstGeom>
          <a:noFill/>
        </p:spPr>
        <p:txBody>
          <a:bodyPr wrap="square" lIns="0" tIns="0" rIns="0" bIns="0" anchor="t">
            <a:spAutoFit/>
          </a:bodyPr>
          <a:lstStyle/>
          <a:p>
            <a:pPr algn="ctr"/>
            <a:r>
              <a:rPr b="1" dirty="0">
                <a:solidFill>
                  <a:srgbClr val="633806"/>
                </a:solidFill>
                <a:latin typeface="Calibri"/>
              </a:rPr>
              <a:t>FEMALE-TO-MALE RATIO</a:t>
            </a:r>
          </a:p>
        </p:txBody>
      </p:sp>
      <p:sp>
        <p:nvSpPr>
          <p:cNvPr id="7" name="TextBox 6"/>
          <p:cNvSpPr txBox="1"/>
          <p:nvPr/>
        </p:nvSpPr>
        <p:spPr>
          <a:xfrm>
            <a:off x="8218842" y="1745500"/>
            <a:ext cx="2926080" cy="1107996"/>
          </a:xfrm>
          <a:prstGeom prst="rect">
            <a:avLst/>
          </a:prstGeom>
          <a:noFill/>
        </p:spPr>
        <p:txBody>
          <a:bodyPr wrap="square" lIns="0" tIns="0" rIns="0" bIns="0" anchor="t">
            <a:spAutoFit/>
          </a:bodyPr>
          <a:lstStyle/>
          <a:p>
            <a:pPr algn="ctr"/>
            <a:r>
              <a:rPr lang="en-GB" sz="7200" b="1" dirty="0">
                <a:solidFill>
                  <a:srgbClr val="BA7517"/>
                </a:solidFill>
              </a:rPr>
              <a:t>4.5:1</a:t>
            </a:r>
          </a:p>
        </p:txBody>
      </p:sp>
      <p:sp>
        <p:nvSpPr>
          <p:cNvPr id="8" name="TextBox 7"/>
          <p:cNvSpPr txBox="1"/>
          <p:nvPr/>
        </p:nvSpPr>
        <p:spPr>
          <a:xfrm>
            <a:off x="7697096" y="2791864"/>
            <a:ext cx="3974950" cy="830997"/>
          </a:xfrm>
          <a:prstGeom prst="rect">
            <a:avLst/>
          </a:prstGeom>
          <a:noFill/>
        </p:spPr>
        <p:txBody>
          <a:bodyPr wrap="square" lIns="0" tIns="0" rIns="0" bIns="0" anchor="t">
            <a:spAutoFit/>
          </a:bodyPr>
          <a:lstStyle/>
          <a:p>
            <a:pPr algn="ctr"/>
            <a:r>
              <a:rPr lang="en-GB" dirty="0">
                <a:solidFill>
                  <a:srgbClr val="854F0B"/>
                </a:solidFill>
              </a:rPr>
              <a:t>Women over 50 are about 4.5 times more likely to be diagnosed with osteoporosis than men.</a:t>
            </a:r>
          </a:p>
        </p:txBody>
      </p:sp>
      <p:cxnSp>
        <p:nvCxnSpPr>
          <p:cNvPr id="9" name="Connector 8"/>
          <p:cNvCxnSpPr/>
          <p:nvPr/>
        </p:nvCxnSpPr>
        <p:spPr>
          <a:xfrm>
            <a:off x="457198" y="6039630"/>
            <a:ext cx="11093824" cy="16136"/>
          </a:xfrm>
          <a:prstGeom prst="line">
            <a:avLst/>
          </a:prstGeom>
          <a:ln w="6350">
            <a:solidFill>
              <a:srgbClr val="E0D8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6492240"/>
            <a:ext cx="8229600" cy="276999"/>
          </a:xfrm>
          <a:prstGeom prst="rect">
            <a:avLst/>
          </a:prstGeom>
          <a:noFill/>
        </p:spPr>
        <p:txBody>
          <a:bodyPr wrap="square" lIns="0" tIns="0" rIns="0" bIns="0">
            <a:spAutoFit/>
          </a:bodyPr>
          <a:lstStyle/>
          <a:p>
            <a:r>
              <a:rPr lang="en-GB" sz="900" dirty="0">
                <a:solidFill>
                  <a:srgbClr val="AAAAAA"/>
                </a:solidFill>
              </a:rPr>
              <a:t>[2] </a:t>
            </a:r>
            <a:r>
              <a:rPr lang="en-GB" sz="900" dirty="0" err="1">
                <a:solidFill>
                  <a:srgbClr val="AAAAAA"/>
                </a:solidFill>
              </a:rPr>
              <a:t>Sarafrazi</a:t>
            </a:r>
            <a:r>
              <a:rPr lang="en-GB" sz="900" dirty="0">
                <a:solidFill>
                  <a:srgbClr val="AAAAAA"/>
                </a:solidFill>
              </a:rPr>
              <a:t> N, </a:t>
            </a:r>
            <a:r>
              <a:rPr lang="en-GB" sz="900" dirty="0" err="1">
                <a:solidFill>
                  <a:srgbClr val="AAAAAA"/>
                </a:solidFill>
              </a:rPr>
              <a:t>Wambogo</a:t>
            </a:r>
            <a:r>
              <a:rPr lang="en-GB" sz="900" dirty="0">
                <a:solidFill>
                  <a:srgbClr val="AAAAAA"/>
                </a:solidFill>
              </a:rPr>
              <a:t> EA, Shepherd JA. Osteoporosis or Low Bone Mass in Older Adults, United States, 2017-2018. CDC NCHS Data Brief No. 405, 2021 · https://www.cdc.gov/nchs/products/databriefs/db405.htm</a:t>
            </a:r>
          </a:p>
        </p:txBody>
      </p:sp>
    </p:spTree>
    <p:extLst>
      <p:ext uri="{BB962C8B-B14F-4D97-AF65-F5344CB8AC3E}">
        <p14:creationId xmlns:p14="http://schemas.microsoft.com/office/powerpoint/2010/main" val="1940382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2" name="Rounded Rectangle 1"/>
          <p:cNvSpPr/>
          <p:nvPr/>
        </p:nvSpPr>
        <p:spPr>
          <a:xfrm>
            <a:off x="457199" y="381898"/>
            <a:ext cx="11214847" cy="365760"/>
          </a:xfrm>
          <a:prstGeom prst="roundRect">
            <a:avLst>
              <a:gd name="adj" fmla="val 50000"/>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600" b="1" dirty="0">
                <a:solidFill>
                  <a:srgbClr val="534AB7"/>
                </a:solidFill>
              </a:rPr>
              <a:t>NEUROLOGICAL</a:t>
            </a:r>
          </a:p>
        </p:txBody>
      </p:sp>
      <p:sp>
        <p:nvSpPr>
          <p:cNvPr id="3" name="TextBox 2"/>
          <p:cNvSpPr txBox="1"/>
          <p:nvPr/>
        </p:nvSpPr>
        <p:spPr>
          <a:xfrm>
            <a:off x="457198" y="1290599"/>
            <a:ext cx="6715461" cy="492443"/>
          </a:xfrm>
          <a:prstGeom prst="rect">
            <a:avLst/>
          </a:prstGeom>
          <a:noFill/>
        </p:spPr>
        <p:txBody>
          <a:bodyPr wrap="square" lIns="0" tIns="0" rIns="0" bIns="0" anchor="t">
            <a:spAutoFit/>
          </a:bodyPr>
          <a:lstStyle/>
          <a:p>
            <a:r>
              <a:rPr lang="en-GB" sz="3200" b="1" dirty="0">
                <a:solidFill>
                  <a:srgbClr val="3D2B56"/>
                </a:solidFill>
              </a:rPr>
              <a:t>Migraine</a:t>
            </a:r>
          </a:p>
        </p:txBody>
      </p:sp>
      <p:sp>
        <p:nvSpPr>
          <p:cNvPr id="4" name="TextBox 3"/>
          <p:cNvSpPr txBox="1"/>
          <p:nvPr/>
        </p:nvSpPr>
        <p:spPr>
          <a:xfrm>
            <a:off x="457200" y="1993820"/>
            <a:ext cx="6715462" cy="1723549"/>
          </a:xfrm>
          <a:prstGeom prst="rect">
            <a:avLst/>
          </a:prstGeom>
          <a:noFill/>
        </p:spPr>
        <p:txBody>
          <a:bodyPr wrap="square" lIns="0" tIns="0" rIns="0" bIns="0" anchor="t">
            <a:spAutoFit/>
          </a:bodyPr>
          <a:lstStyle/>
          <a:p>
            <a:r>
              <a:rPr lang="en-GB" sz="2800" dirty="0">
                <a:solidFill>
                  <a:srgbClr val="6B6B6B"/>
                </a:solidFill>
              </a:rPr>
              <a:t>More than a bad headache — recurring, often disabling neurological attacks with nausea, light and sound sensitivity that can last for days.</a:t>
            </a:r>
          </a:p>
        </p:txBody>
      </p:sp>
      <p:sp>
        <p:nvSpPr>
          <p:cNvPr id="5" name="Rounded Rectangle 4"/>
          <p:cNvSpPr/>
          <p:nvPr/>
        </p:nvSpPr>
        <p:spPr>
          <a:xfrm>
            <a:off x="7697096" y="1410617"/>
            <a:ext cx="3974950" cy="2389206"/>
          </a:xfrm>
          <a:prstGeom prst="roundRect">
            <a:avLst>
              <a:gd name="adj" fmla="val 6000"/>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1531" y="1596376"/>
            <a:ext cx="2926080" cy="276999"/>
          </a:xfrm>
          <a:prstGeom prst="rect">
            <a:avLst/>
          </a:prstGeom>
          <a:noFill/>
        </p:spPr>
        <p:txBody>
          <a:bodyPr wrap="square" lIns="0" tIns="0" rIns="0" bIns="0" anchor="t">
            <a:spAutoFit/>
          </a:bodyPr>
          <a:lstStyle/>
          <a:p>
            <a:pPr algn="ctr"/>
            <a:r>
              <a:rPr b="1" dirty="0">
                <a:solidFill>
                  <a:srgbClr val="633806"/>
                </a:solidFill>
                <a:latin typeface="Calibri"/>
              </a:rPr>
              <a:t>FEMALE-TO-MALE RATIO</a:t>
            </a:r>
          </a:p>
        </p:txBody>
      </p:sp>
      <p:sp>
        <p:nvSpPr>
          <p:cNvPr id="7" name="TextBox 6"/>
          <p:cNvSpPr txBox="1"/>
          <p:nvPr/>
        </p:nvSpPr>
        <p:spPr>
          <a:xfrm>
            <a:off x="8221531" y="1966254"/>
            <a:ext cx="2926080" cy="1107996"/>
          </a:xfrm>
          <a:prstGeom prst="rect">
            <a:avLst/>
          </a:prstGeom>
          <a:noFill/>
        </p:spPr>
        <p:txBody>
          <a:bodyPr wrap="square" lIns="0" tIns="0" rIns="0" bIns="0" anchor="t">
            <a:spAutoFit/>
          </a:bodyPr>
          <a:lstStyle/>
          <a:p>
            <a:pPr algn="ctr"/>
            <a:r>
              <a:rPr lang="en-GB" sz="7200" b="1" dirty="0">
                <a:solidFill>
                  <a:srgbClr val="BA7517"/>
                </a:solidFill>
              </a:rPr>
              <a:t>3:1</a:t>
            </a:r>
          </a:p>
        </p:txBody>
      </p:sp>
      <p:sp>
        <p:nvSpPr>
          <p:cNvPr id="8" name="TextBox 7"/>
          <p:cNvSpPr txBox="1"/>
          <p:nvPr/>
        </p:nvSpPr>
        <p:spPr>
          <a:xfrm>
            <a:off x="7697096" y="3136352"/>
            <a:ext cx="3974950" cy="553998"/>
          </a:xfrm>
          <a:prstGeom prst="rect">
            <a:avLst/>
          </a:prstGeom>
          <a:noFill/>
        </p:spPr>
        <p:txBody>
          <a:bodyPr wrap="square" lIns="0" tIns="0" rIns="0" bIns="0" anchor="t">
            <a:spAutoFit/>
          </a:bodyPr>
          <a:lstStyle/>
          <a:p>
            <a:pPr algn="ctr"/>
            <a:r>
              <a:rPr lang="en-GB" dirty="0">
                <a:solidFill>
                  <a:srgbClr val="854F0B"/>
                </a:solidFill>
              </a:rPr>
              <a:t>Migraine is the leading cause of disability for women under 50 worldwide.</a:t>
            </a:r>
          </a:p>
        </p:txBody>
      </p:sp>
      <p:cxnSp>
        <p:nvCxnSpPr>
          <p:cNvPr id="9" name="Connector 8"/>
          <p:cNvCxnSpPr/>
          <p:nvPr/>
        </p:nvCxnSpPr>
        <p:spPr>
          <a:xfrm>
            <a:off x="457198" y="6039630"/>
            <a:ext cx="11093824" cy="16136"/>
          </a:xfrm>
          <a:prstGeom prst="line">
            <a:avLst/>
          </a:prstGeom>
          <a:ln w="6350">
            <a:solidFill>
              <a:srgbClr val="E0D8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6492240"/>
            <a:ext cx="8229600" cy="276999"/>
          </a:xfrm>
          <a:prstGeom prst="rect">
            <a:avLst/>
          </a:prstGeom>
          <a:noFill/>
        </p:spPr>
        <p:txBody>
          <a:bodyPr wrap="square" lIns="0" tIns="0" rIns="0" bIns="0">
            <a:spAutoFit/>
          </a:bodyPr>
          <a:lstStyle/>
          <a:p>
            <a:r>
              <a:rPr lang="en-GB" sz="900" dirty="0">
                <a:solidFill>
                  <a:srgbClr val="AAAAAA"/>
                </a:solidFill>
              </a:rPr>
              <a:t>[3] </a:t>
            </a:r>
            <a:r>
              <a:rPr lang="en-GB" sz="900" dirty="0" err="1">
                <a:solidFill>
                  <a:srgbClr val="AAAAAA"/>
                </a:solidFill>
              </a:rPr>
              <a:t>Buse</a:t>
            </a:r>
            <a:r>
              <a:rPr lang="en-GB" sz="900" dirty="0">
                <a:solidFill>
                  <a:srgbClr val="AAAAAA"/>
                </a:solidFill>
              </a:rPr>
              <a:t> DC et al. Sex differences in the prevalence, symptoms, and associated features of migraine — AMPP Study. PubMed, 2013 · https://pubmed.ncbi.nlm.nih.gov/23808666/</a:t>
            </a:r>
          </a:p>
        </p:txBody>
      </p:sp>
    </p:spTree>
    <p:extLst>
      <p:ext uri="{BB962C8B-B14F-4D97-AF65-F5344CB8AC3E}">
        <p14:creationId xmlns:p14="http://schemas.microsoft.com/office/powerpoint/2010/main" val="1768420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2" name="Rounded Rectangle 1"/>
          <p:cNvSpPr/>
          <p:nvPr/>
        </p:nvSpPr>
        <p:spPr>
          <a:xfrm>
            <a:off x="457199" y="381898"/>
            <a:ext cx="11214847" cy="365760"/>
          </a:xfrm>
          <a:prstGeom prst="roundRect">
            <a:avLst>
              <a:gd name="adj" fmla="val 50000"/>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600" b="1" dirty="0">
                <a:solidFill>
                  <a:srgbClr val="534AB7"/>
                </a:solidFill>
              </a:rPr>
              <a:t>NEURODEGENERATIVE</a:t>
            </a:r>
          </a:p>
        </p:txBody>
      </p:sp>
      <p:sp>
        <p:nvSpPr>
          <p:cNvPr id="3" name="TextBox 2"/>
          <p:cNvSpPr txBox="1"/>
          <p:nvPr/>
        </p:nvSpPr>
        <p:spPr>
          <a:xfrm>
            <a:off x="457198" y="1290599"/>
            <a:ext cx="6715461" cy="492443"/>
          </a:xfrm>
          <a:prstGeom prst="rect">
            <a:avLst/>
          </a:prstGeom>
          <a:noFill/>
        </p:spPr>
        <p:txBody>
          <a:bodyPr wrap="square" lIns="0" tIns="0" rIns="0" bIns="0" anchor="t">
            <a:spAutoFit/>
          </a:bodyPr>
          <a:lstStyle/>
          <a:p>
            <a:r>
              <a:rPr lang="en-GB" sz="3200" b="1" dirty="0">
                <a:solidFill>
                  <a:srgbClr val="3D2B56"/>
                </a:solidFill>
              </a:rPr>
              <a:t>Alzheimer's Disease</a:t>
            </a:r>
          </a:p>
        </p:txBody>
      </p:sp>
      <p:sp>
        <p:nvSpPr>
          <p:cNvPr id="4" name="TextBox 3"/>
          <p:cNvSpPr txBox="1"/>
          <p:nvPr/>
        </p:nvSpPr>
        <p:spPr>
          <a:xfrm>
            <a:off x="457200" y="1993820"/>
            <a:ext cx="6715462" cy="1292662"/>
          </a:xfrm>
          <a:prstGeom prst="rect">
            <a:avLst/>
          </a:prstGeom>
          <a:noFill/>
        </p:spPr>
        <p:txBody>
          <a:bodyPr wrap="square" lIns="0" tIns="0" rIns="0" bIns="0" anchor="t">
            <a:spAutoFit/>
          </a:bodyPr>
          <a:lstStyle/>
          <a:p>
            <a:r>
              <a:rPr lang="en-GB" sz="2800" dirty="0">
                <a:solidFill>
                  <a:srgbClr val="6B6B6B"/>
                </a:solidFill>
              </a:rPr>
              <a:t>A progressive brain disease that destroys memory and thinking — the most common cause of dementia in older adults.</a:t>
            </a:r>
          </a:p>
        </p:txBody>
      </p:sp>
      <p:sp>
        <p:nvSpPr>
          <p:cNvPr id="5" name="Rounded Rectangle 4"/>
          <p:cNvSpPr/>
          <p:nvPr/>
        </p:nvSpPr>
        <p:spPr>
          <a:xfrm>
            <a:off x="7697096" y="1410617"/>
            <a:ext cx="3974950" cy="2389206"/>
          </a:xfrm>
          <a:prstGeom prst="roundRect">
            <a:avLst>
              <a:gd name="adj" fmla="val 6000"/>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1531" y="1596376"/>
            <a:ext cx="2926080" cy="276999"/>
          </a:xfrm>
          <a:prstGeom prst="rect">
            <a:avLst/>
          </a:prstGeom>
          <a:noFill/>
        </p:spPr>
        <p:txBody>
          <a:bodyPr wrap="square" lIns="0" tIns="0" rIns="0" bIns="0" anchor="t">
            <a:spAutoFit/>
          </a:bodyPr>
          <a:lstStyle/>
          <a:p>
            <a:pPr algn="ctr"/>
            <a:r>
              <a:rPr b="1" dirty="0">
                <a:solidFill>
                  <a:srgbClr val="633806"/>
                </a:solidFill>
                <a:latin typeface="Calibri"/>
              </a:rPr>
              <a:t>FEMALE-TO-MALE RATIO</a:t>
            </a:r>
          </a:p>
        </p:txBody>
      </p:sp>
      <p:sp>
        <p:nvSpPr>
          <p:cNvPr id="7" name="TextBox 6"/>
          <p:cNvSpPr txBox="1"/>
          <p:nvPr/>
        </p:nvSpPr>
        <p:spPr>
          <a:xfrm>
            <a:off x="8221531" y="1966254"/>
            <a:ext cx="2926080" cy="1107996"/>
          </a:xfrm>
          <a:prstGeom prst="rect">
            <a:avLst/>
          </a:prstGeom>
          <a:noFill/>
        </p:spPr>
        <p:txBody>
          <a:bodyPr wrap="square" lIns="0" tIns="0" rIns="0" bIns="0" anchor="t">
            <a:spAutoFit/>
          </a:bodyPr>
          <a:lstStyle/>
          <a:p>
            <a:pPr algn="ctr"/>
            <a:r>
              <a:rPr lang="en-GB" sz="7200" b="1" dirty="0">
                <a:solidFill>
                  <a:srgbClr val="BA7517"/>
                </a:solidFill>
              </a:rPr>
              <a:t>2:1</a:t>
            </a:r>
          </a:p>
        </p:txBody>
      </p:sp>
      <p:sp>
        <p:nvSpPr>
          <p:cNvPr id="8" name="TextBox 7"/>
          <p:cNvSpPr txBox="1"/>
          <p:nvPr/>
        </p:nvSpPr>
        <p:spPr>
          <a:xfrm>
            <a:off x="7697096" y="3136352"/>
            <a:ext cx="3974950" cy="553998"/>
          </a:xfrm>
          <a:prstGeom prst="rect">
            <a:avLst/>
          </a:prstGeom>
          <a:noFill/>
        </p:spPr>
        <p:txBody>
          <a:bodyPr wrap="square" lIns="0" tIns="0" rIns="0" bIns="0" anchor="t">
            <a:spAutoFit/>
          </a:bodyPr>
          <a:lstStyle/>
          <a:p>
            <a:pPr algn="ctr"/>
            <a:r>
              <a:rPr lang="en-GB" dirty="0">
                <a:solidFill>
                  <a:srgbClr val="854F0B"/>
                </a:solidFill>
              </a:rPr>
              <a:t>By age 45, a woman's lifetime risk of Alzheimer's is 1 in 5 — twice a man's.</a:t>
            </a:r>
          </a:p>
        </p:txBody>
      </p:sp>
      <p:cxnSp>
        <p:nvCxnSpPr>
          <p:cNvPr id="9" name="Connector 8"/>
          <p:cNvCxnSpPr/>
          <p:nvPr/>
        </p:nvCxnSpPr>
        <p:spPr>
          <a:xfrm>
            <a:off x="457198" y="6039630"/>
            <a:ext cx="11093824" cy="16136"/>
          </a:xfrm>
          <a:prstGeom prst="line">
            <a:avLst/>
          </a:prstGeom>
          <a:ln w="6350">
            <a:solidFill>
              <a:srgbClr val="E0D8F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07893" y="6552971"/>
            <a:ext cx="11192434" cy="230832"/>
          </a:xfrm>
          <a:prstGeom prst="rect">
            <a:avLst/>
          </a:prstGeom>
        </p:spPr>
        <p:txBody>
          <a:bodyPr wrap="square">
            <a:spAutoFit/>
          </a:bodyPr>
          <a:lstStyle/>
          <a:p>
            <a:pPr>
              <a:spcAft>
                <a:spcPts val="800"/>
              </a:spcAft>
            </a:pPr>
            <a:r>
              <a:rPr lang="en-GB" sz="900" dirty="0">
                <a:solidFill>
                  <a:srgbClr val="AAAAAA"/>
                </a:solidFill>
              </a:rPr>
              <a:t>[4] Alzheimer's Disease — Alzheimer's disease as a women's health challenge (PMC, 2024).  https://pmc.ncbi.nlm.nih.gov/articles/PMC11106001</a:t>
            </a:r>
            <a:r>
              <a:rPr lang="en-GB" sz="900" dirty="0">
                <a:solidFill>
                  <a:srgbClr val="2C2C2C"/>
                </a:solidFill>
              </a:rPr>
              <a:t>/</a:t>
            </a:r>
          </a:p>
        </p:txBody>
      </p:sp>
    </p:spTree>
    <p:extLst>
      <p:ext uri="{BB962C8B-B14F-4D97-AF65-F5344CB8AC3E}">
        <p14:creationId xmlns:p14="http://schemas.microsoft.com/office/powerpoint/2010/main" val="236940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2" name="Rounded Rectangle 1"/>
          <p:cNvSpPr/>
          <p:nvPr/>
        </p:nvSpPr>
        <p:spPr>
          <a:xfrm>
            <a:off x="457199" y="381898"/>
            <a:ext cx="11214847" cy="365760"/>
          </a:xfrm>
          <a:prstGeom prst="roundRect">
            <a:avLst>
              <a:gd name="adj" fmla="val 50000"/>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600" b="1" dirty="0">
                <a:solidFill>
                  <a:srgbClr val="534AB7"/>
                </a:solidFill>
              </a:rPr>
              <a:t>MENTAL HEALTH</a:t>
            </a:r>
          </a:p>
        </p:txBody>
      </p:sp>
      <p:sp>
        <p:nvSpPr>
          <p:cNvPr id="3" name="TextBox 2"/>
          <p:cNvSpPr txBox="1"/>
          <p:nvPr/>
        </p:nvSpPr>
        <p:spPr>
          <a:xfrm>
            <a:off x="457198" y="1290599"/>
            <a:ext cx="6715461" cy="492443"/>
          </a:xfrm>
          <a:prstGeom prst="rect">
            <a:avLst/>
          </a:prstGeom>
          <a:noFill/>
        </p:spPr>
        <p:txBody>
          <a:bodyPr wrap="square" lIns="0" tIns="0" rIns="0" bIns="0" anchor="t">
            <a:spAutoFit/>
          </a:bodyPr>
          <a:lstStyle/>
          <a:p>
            <a:r>
              <a:rPr lang="en-GB" sz="3200" b="1" dirty="0">
                <a:solidFill>
                  <a:srgbClr val="3D2B56"/>
                </a:solidFill>
              </a:rPr>
              <a:t>Major Depression</a:t>
            </a:r>
          </a:p>
        </p:txBody>
      </p:sp>
      <p:sp>
        <p:nvSpPr>
          <p:cNvPr id="4" name="TextBox 3"/>
          <p:cNvSpPr txBox="1"/>
          <p:nvPr/>
        </p:nvSpPr>
        <p:spPr>
          <a:xfrm>
            <a:off x="457200" y="1993820"/>
            <a:ext cx="6715462" cy="1292662"/>
          </a:xfrm>
          <a:prstGeom prst="rect">
            <a:avLst/>
          </a:prstGeom>
          <a:noFill/>
        </p:spPr>
        <p:txBody>
          <a:bodyPr wrap="square" lIns="0" tIns="0" rIns="0" bIns="0" anchor="t">
            <a:spAutoFit/>
          </a:bodyPr>
          <a:lstStyle/>
          <a:p>
            <a:r>
              <a:rPr lang="en-GB" sz="2800" dirty="0">
                <a:solidFill>
                  <a:srgbClr val="6B6B6B"/>
                </a:solidFill>
              </a:rPr>
              <a:t>A persistent mood disorder that affects how a person feels, thinks and handles daily life — far more than just sadness.</a:t>
            </a:r>
          </a:p>
        </p:txBody>
      </p:sp>
      <p:sp>
        <p:nvSpPr>
          <p:cNvPr id="5" name="Rounded Rectangle 4"/>
          <p:cNvSpPr/>
          <p:nvPr/>
        </p:nvSpPr>
        <p:spPr>
          <a:xfrm>
            <a:off x="7697096" y="1410617"/>
            <a:ext cx="3974950" cy="2389206"/>
          </a:xfrm>
          <a:prstGeom prst="roundRect">
            <a:avLst>
              <a:gd name="adj" fmla="val 6000"/>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1531" y="1581242"/>
            <a:ext cx="2926080" cy="276999"/>
          </a:xfrm>
          <a:prstGeom prst="rect">
            <a:avLst/>
          </a:prstGeom>
          <a:noFill/>
        </p:spPr>
        <p:txBody>
          <a:bodyPr wrap="square" lIns="0" tIns="0" rIns="0" bIns="0" anchor="t">
            <a:spAutoFit/>
          </a:bodyPr>
          <a:lstStyle/>
          <a:p>
            <a:pPr algn="ctr"/>
            <a:r>
              <a:rPr b="1" dirty="0">
                <a:solidFill>
                  <a:srgbClr val="633806"/>
                </a:solidFill>
                <a:latin typeface="Calibri"/>
              </a:rPr>
              <a:t>FEMALE-TO-MALE RATIO</a:t>
            </a:r>
          </a:p>
        </p:txBody>
      </p:sp>
      <p:sp>
        <p:nvSpPr>
          <p:cNvPr id="7" name="TextBox 6"/>
          <p:cNvSpPr txBox="1"/>
          <p:nvPr/>
        </p:nvSpPr>
        <p:spPr>
          <a:xfrm>
            <a:off x="8221531" y="1895899"/>
            <a:ext cx="2926080" cy="1107996"/>
          </a:xfrm>
          <a:prstGeom prst="rect">
            <a:avLst/>
          </a:prstGeom>
          <a:noFill/>
        </p:spPr>
        <p:txBody>
          <a:bodyPr wrap="square" lIns="0" tIns="0" rIns="0" bIns="0" anchor="t">
            <a:spAutoFit/>
          </a:bodyPr>
          <a:lstStyle/>
          <a:p>
            <a:pPr algn="ctr"/>
            <a:r>
              <a:rPr lang="en-GB" sz="7200" b="1" dirty="0">
                <a:solidFill>
                  <a:srgbClr val="BA7517"/>
                </a:solidFill>
              </a:rPr>
              <a:t>2:1</a:t>
            </a:r>
          </a:p>
        </p:txBody>
      </p:sp>
      <p:sp>
        <p:nvSpPr>
          <p:cNvPr id="8" name="TextBox 7"/>
          <p:cNvSpPr txBox="1"/>
          <p:nvPr/>
        </p:nvSpPr>
        <p:spPr>
          <a:xfrm>
            <a:off x="7697096" y="2987465"/>
            <a:ext cx="3974950" cy="830997"/>
          </a:xfrm>
          <a:prstGeom prst="rect">
            <a:avLst/>
          </a:prstGeom>
          <a:noFill/>
        </p:spPr>
        <p:txBody>
          <a:bodyPr wrap="square" lIns="0" tIns="0" rIns="0" bIns="0" anchor="t">
            <a:spAutoFit/>
          </a:bodyPr>
          <a:lstStyle/>
          <a:p>
            <a:pPr algn="ctr"/>
            <a:r>
              <a:rPr lang="en-GB" dirty="0">
                <a:solidFill>
                  <a:srgbClr val="854F0B"/>
                </a:solidFill>
              </a:rPr>
              <a:t>Twice as many women as men live with depression — in nearly every country measured.</a:t>
            </a:r>
          </a:p>
        </p:txBody>
      </p:sp>
      <p:cxnSp>
        <p:nvCxnSpPr>
          <p:cNvPr id="9" name="Connector 8"/>
          <p:cNvCxnSpPr/>
          <p:nvPr/>
        </p:nvCxnSpPr>
        <p:spPr>
          <a:xfrm>
            <a:off x="457198" y="6039630"/>
            <a:ext cx="11093824" cy="16136"/>
          </a:xfrm>
          <a:prstGeom prst="line">
            <a:avLst/>
          </a:prstGeom>
          <a:ln w="6350">
            <a:solidFill>
              <a:srgbClr val="E0D8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6492240"/>
            <a:ext cx="8229600" cy="138499"/>
          </a:xfrm>
          <a:prstGeom prst="rect">
            <a:avLst/>
          </a:prstGeom>
          <a:noFill/>
        </p:spPr>
        <p:txBody>
          <a:bodyPr wrap="square" lIns="0" tIns="0" rIns="0" bIns="0">
            <a:spAutoFit/>
          </a:bodyPr>
          <a:lstStyle/>
          <a:p>
            <a:r>
              <a:rPr lang="en-GB" sz="900" dirty="0">
                <a:solidFill>
                  <a:srgbClr val="AAAAAA"/>
                </a:solidFill>
              </a:rPr>
              <a:t>[5] Albert PR. Why is depression more prevalent in women? Journal of Psychiatry &amp; Neuroscience. PMC, 2015 · https://pmc.ncbi.nlm.nih.gov/articles/PMC4478054/</a:t>
            </a:r>
          </a:p>
        </p:txBody>
      </p:sp>
    </p:spTree>
    <p:extLst>
      <p:ext uri="{BB962C8B-B14F-4D97-AF65-F5344CB8AC3E}">
        <p14:creationId xmlns:p14="http://schemas.microsoft.com/office/powerpoint/2010/main" val="3277557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5" name="Rounded Rectangle 4"/>
          <p:cNvSpPr/>
          <p:nvPr/>
        </p:nvSpPr>
        <p:spPr>
          <a:xfrm>
            <a:off x="822960" y="1784165"/>
            <a:ext cx="10515600" cy="1779306"/>
          </a:xfrm>
          <a:prstGeom prst="roundRect">
            <a:avLst>
              <a:gd name="adj" fmla="val 6000"/>
            </a:avLst>
          </a:prstGeom>
          <a:solidFill>
            <a:srgbClr val="F3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890195"/>
            <a:ext cx="10058400" cy="492443"/>
          </a:xfrm>
          <a:prstGeom prst="rect">
            <a:avLst/>
          </a:prstGeom>
          <a:noFill/>
        </p:spPr>
        <p:txBody>
          <a:bodyPr wrap="square" lIns="0" tIns="0" rIns="0" bIns="0" anchor="t">
            <a:spAutoFit/>
          </a:bodyPr>
          <a:lstStyle/>
          <a:p>
            <a:r>
              <a:rPr lang="en-GB" sz="3200" b="1" dirty="0">
                <a:solidFill>
                  <a:srgbClr val="3D2B56"/>
                </a:solidFill>
              </a:rPr>
              <a:t>One recommendation</a:t>
            </a:r>
            <a:endParaRPr sz="3200" b="1" dirty="0">
              <a:solidFill>
                <a:srgbClr val="3D2B56"/>
              </a:solidFill>
            </a:endParaRPr>
          </a:p>
        </p:txBody>
      </p:sp>
      <p:sp>
        <p:nvSpPr>
          <p:cNvPr id="7" name="TextBox 6"/>
          <p:cNvSpPr txBox="1"/>
          <p:nvPr/>
        </p:nvSpPr>
        <p:spPr>
          <a:xfrm>
            <a:off x="930537" y="2027487"/>
            <a:ext cx="10058400" cy="1292662"/>
          </a:xfrm>
          <a:prstGeom prst="rect">
            <a:avLst/>
          </a:prstGeom>
          <a:noFill/>
        </p:spPr>
        <p:txBody>
          <a:bodyPr wrap="square" lIns="0" tIns="0" rIns="0" bIns="0" anchor="t">
            <a:spAutoFit/>
          </a:bodyPr>
          <a:lstStyle/>
          <a:p>
            <a:r>
              <a:rPr sz="2800" dirty="0">
                <a:solidFill>
                  <a:srgbClr val="6B6B6B"/>
                </a:solidFill>
              </a:rPr>
              <a:t>Make sex-disaggregated reporting the default in every NCD surveillance round so the burden women carry stops hiding in the totals.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F5"/>
        </a:solidFill>
        <a:effectLst/>
      </p:bgPr>
    </p:bg>
    <p:spTree>
      <p:nvGrpSpPr>
        <p:cNvPr id="1" name=""/>
        <p:cNvGrpSpPr/>
        <p:nvPr/>
      </p:nvGrpSpPr>
      <p:grpSpPr>
        <a:xfrm>
          <a:off x="0" y="0"/>
          <a:ext cx="0" cy="0"/>
          <a:chOff x="0" y="0"/>
          <a:chExt cx="0" cy="0"/>
        </a:xfrm>
      </p:grpSpPr>
      <p:sp>
        <p:nvSpPr>
          <p:cNvPr id="2" name="TextBox 1"/>
          <p:cNvSpPr txBox="1"/>
          <p:nvPr/>
        </p:nvSpPr>
        <p:spPr>
          <a:xfrm>
            <a:off x="822960" y="457200"/>
            <a:ext cx="10515600" cy="548640"/>
          </a:xfrm>
          <a:prstGeom prst="rect">
            <a:avLst/>
          </a:prstGeom>
          <a:noFill/>
        </p:spPr>
        <p:txBody>
          <a:bodyPr wrap="square" lIns="0" tIns="0" rIns="0" bIns="0" anchor="t">
            <a:spAutoFit/>
          </a:bodyPr>
          <a:lstStyle/>
          <a:p>
            <a:pPr algn="l"/>
            <a:r>
              <a:rPr sz="2600" b="1">
                <a:solidFill>
                  <a:srgbClr val="3D2B56"/>
                </a:solidFill>
                <a:latin typeface="Calibri"/>
              </a:rPr>
              <a:t>Sources</a:t>
            </a:r>
          </a:p>
        </p:txBody>
      </p:sp>
      <p:sp>
        <p:nvSpPr>
          <p:cNvPr id="3" name="TextBox 2"/>
          <p:cNvSpPr txBox="1"/>
          <p:nvPr/>
        </p:nvSpPr>
        <p:spPr>
          <a:xfrm>
            <a:off x="822960" y="1188720"/>
            <a:ext cx="10515600" cy="5029200"/>
          </a:xfrm>
          <a:prstGeom prst="rect">
            <a:avLst/>
          </a:prstGeom>
          <a:noFill/>
        </p:spPr>
        <p:txBody>
          <a:bodyPr wrap="square" lIns="0" rIns="0">
            <a:spAutoFit/>
          </a:bodyPr>
          <a:lstStyle/>
          <a:p>
            <a:pPr algn="l">
              <a:spcAft>
                <a:spcPts val="800"/>
              </a:spcAft>
            </a:pPr>
            <a:r>
              <a:rPr sz="1200" b="1" dirty="0">
                <a:solidFill>
                  <a:srgbClr val="3D2B56"/>
                </a:solidFill>
                <a:latin typeface="Calibri"/>
              </a:rPr>
              <a:t>[1] Systemic Lupus Erythematosus (Lupus) — </a:t>
            </a:r>
            <a:r>
              <a:rPr sz="1100" dirty="0">
                <a:solidFill>
                  <a:srgbClr val="2C2C2C"/>
                </a:solidFill>
                <a:latin typeface="Calibri"/>
              </a:rPr>
              <a:t>Sex- and gender-related differences in systemic lupus erythematosus: a scoping review (PMC, 2024).  https://pmc.ncbi.nlm.nih.gov/articles/PMC12204902/</a:t>
            </a:r>
          </a:p>
          <a:p>
            <a:pPr algn="l">
              <a:spcAft>
                <a:spcPts val="800"/>
              </a:spcAft>
            </a:pPr>
            <a:r>
              <a:rPr sz="1200" b="1" dirty="0">
                <a:solidFill>
                  <a:srgbClr val="3D2B56"/>
                </a:solidFill>
                <a:latin typeface="Calibri"/>
              </a:rPr>
              <a:t>[2] Osteoporosis — </a:t>
            </a:r>
            <a:r>
              <a:rPr sz="1100" dirty="0" err="1">
                <a:solidFill>
                  <a:srgbClr val="2C2C2C"/>
                </a:solidFill>
                <a:latin typeface="Calibri"/>
              </a:rPr>
              <a:t>Sarafrazi</a:t>
            </a:r>
            <a:r>
              <a:rPr sz="1100" dirty="0">
                <a:solidFill>
                  <a:srgbClr val="2C2C2C"/>
                </a:solidFill>
                <a:latin typeface="Calibri"/>
              </a:rPr>
              <a:t> N, </a:t>
            </a:r>
            <a:r>
              <a:rPr sz="1100" dirty="0" err="1">
                <a:solidFill>
                  <a:srgbClr val="2C2C2C"/>
                </a:solidFill>
                <a:latin typeface="Calibri"/>
              </a:rPr>
              <a:t>Wambogo</a:t>
            </a:r>
            <a:r>
              <a:rPr sz="1100" dirty="0">
                <a:solidFill>
                  <a:srgbClr val="2C2C2C"/>
                </a:solidFill>
                <a:latin typeface="Calibri"/>
              </a:rPr>
              <a:t> EA, Shepherd JA. Osteoporosis or Low Bone Mass in Older Adults, United States, 2017-2018. CDC NCHS Data Brief No. 405, 2021.  https://www.cdc.gov/nchs/products/databriefs/db405.htm</a:t>
            </a:r>
          </a:p>
          <a:p>
            <a:pPr algn="l">
              <a:spcAft>
                <a:spcPts val="800"/>
              </a:spcAft>
            </a:pPr>
            <a:r>
              <a:rPr sz="1200" b="1" dirty="0">
                <a:solidFill>
                  <a:srgbClr val="3D2B56"/>
                </a:solidFill>
                <a:latin typeface="Calibri"/>
              </a:rPr>
              <a:t>[3] Migraine — </a:t>
            </a:r>
            <a:r>
              <a:rPr sz="1100" dirty="0" err="1">
                <a:solidFill>
                  <a:srgbClr val="2C2C2C"/>
                </a:solidFill>
                <a:latin typeface="Calibri"/>
              </a:rPr>
              <a:t>Buse</a:t>
            </a:r>
            <a:r>
              <a:rPr sz="1100" dirty="0">
                <a:solidFill>
                  <a:srgbClr val="2C2C2C"/>
                </a:solidFill>
                <a:latin typeface="Calibri"/>
              </a:rPr>
              <a:t> DC et al. Sex differences in the prevalence, symptoms, and associated features of migraine — AMPP Study. PubMed, 2013.  https://pubmed.ncbi.nlm.nih.gov/23808666/</a:t>
            </a:r>
          </a:p>
          <a:p>
            <a:pPr algn="l">
              <a:spcAft>
                <a:spcPts val="800"/>
              </a:spcAft>
            </a:pPr>
            <a:r>
              <a:rPr sz="1200" b="1" dirty="0">
                <a:solidFill>
                  <a:srgbClr val="3D2B56"/>
                </a:solidFill>
                <a:latin typeface="Calibri"/>
              </a:rPr>
              <a:t>[4] Alzheimer's Disease — </a:t>
            </a:r>
            <a:r>
              <a:rPr sz="1100" dirty="0">
                <a:solidFill>
                  <a:srgbClr val="2C2C2C"/>
                </a:solidFill>
                <a:latin typeface="Calibri"/>
              </a:rPr>
              <a:t>Alzheimer's disease as a women's health challenge (PMC, 2024).  https://pmc.ncbi.nlm.nih.gov/articles/PMC11106001/</a:t>
            </a:r>
          </a:p>
          <a:p>
            <a:pPr algn="l">
              <a:spcAft>
                <a:spcPts val="800"/>
              </a:spcAft>
            </a:pPr>
            <a:r>
              <a:rPr sz="1200" b="1" dirty="0">
                <a:solidFill>
                  <a:srgbClr val="3D2B56"/>
                </a:solidFill>
                <a:latin typeface="Calibri"/>
              </a:rPr>
              <a:t>[5] Major Depression — </a:t>
            </a:r>
            <a:r>
              <a:rPr sz="1100" dirty="0">
                <a:solidFill>
                  <a:srgbClr val="2C2C2C"/>
                </a:solidFill>
                <a:latin typeface="Calibri"/>
              </a:rPr>
              <a:t>Albert PR. Why is depression more prevalent in women? Journal of Psychiatry &amp; Neuroscience. PMC, 2015.  https://pmc.ncbi.nlm.nih.gov/articles/PMC4478054/</a:t>
            </a:r>
          </a:p>
          <a:p>
            <a:pPr algn="l">
              <a:spcAft>
                <a:spcPts val="800"/>
              </a:spcAft>
            </a:pPr>
            <a:r>
              <a:rPr sz="1200" b="1" dirty="0">
                <a:solidFill>
                  <a:srgbClr val="3D2B56"/>
                </a:solidFill>
                <a:latin typeface="Calibri"/>
              </a:rPr>
              <a:t>[H] Hook — Zambia STEPS 2017 — </a:t>
            </a:r>
            <a:r>
              <a:rPr sz="1100" dirty="0" err="1">
                <a:solidFill>
                  <a:srgbClr val="2C2C2C"/>
                </a:solidFill>
                <a:latin typeface="Calibri"/>
              </a:rPr>
              <a:t>Pengpid</a:t>
            </a:r>
            <a:r>
              <a:rPr sz="1100" dirty="0">
                <a:solidFill>
                  <a:srgbClr val="2C2C2C"/>
                </a:solidFill>
                <a:latin typeface="Calibri"/>
              </a:rPr>
              <a:t> S, </a:t>
            </a:r>
            <a:r>
              <a:rPr sz="1100" dirty="0" err="1">
                <a:solidFill>
                  <a:srgbClr val="2C2C2C"/>
                </a:solidFill>
                <a:latin typeface="Calibri"/>
              </a:rPr>
              <a:t>Peltzer</a:t>
            </a:r>
            <a:r>
              <a:rPr sz="1100" dirty="0">
                <a:solidFill>
                  <a:srgbClr val="2C2C2C"/>
                </a:solidFill>
                <a:latin typeface="Calibri"/>
              </a:rPr>
              <a:t> K. Prevalence and correlates of multiple non-communicable disease risk factors among adults in Zambia: results of the first national STEPS survey in 2017. PMC, 2021.  https://www.ncbi.nlm.nih.gov/pmc/articles/PMC7864270/</a:t>
            </a:r>
          </a:p>
        </p:txBody>
      </p:sp>
      <p:sp>
        <p:nvSpPr>
          <p:cNvPr id="4" name="TextBox 3"/>
          <p:cNvSpPr txBox="1"/>
          <p:nvPr/>
        </p:nvSpPr>
        <p:spPr>
          <a:xfrm>
            <a:off x="457200" y="6446520"/>
            <a:ext cx="10424160" cy="320040"/>
          </a:xfrm>
          <a:prstGeom prst="rect">
            <a:avLst/>
          </a:prstGeom>
          <a:noFill/>
        </p:spPr>
        <p:txBody>
          <a:bodyPr wrap="square" lIns="0" tIns="0" rIns="0" bIns="0" anchor="t">
            <a:spAutoFit/>
          </a:bodyPr>
          <a:lstStyle/>
          <a:p>
            <a:pPr algn="l"/>
            <a:r>
              <a:rPr sz="900" b="0">
                <a:solidFill>
                  <a:srgbClr val="888888"/>
                </a:solidFill>
                <a:latin typeface="Calibri"/>
              </a:rPr>
              <a:t>All sources accessed via PubMed Central, CDC NCHS, and peer-reviewed journals.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822</Words>
  <Application>Microsoft Office PowerPoint</Application>
  <PresentationFormat>Widescreen</PresentationFormat>
  <Paragraphs>55</Paragraphs>
  <Slides>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Ntwala</dc:creator>
  <cp:keywords/>
  <dc:description>generated using python-pptx</dc:description>
  <cp:lastModifiedBy>FSI Outsourcing</cp:lastModifiedBy>
  <cp:revision>10</cp:revision>
  <dcterms:created xsi:type="dcterms:W3CDTF">2013-01-27T09:14:16Z</dcterms:created>
  <dcterms:modified xsi:type="dcterms:W3CDTF">2026-05-29T06:20:15Z</dcterms:modified>
  <cp:category/>
</cp:coreProperties>
</file>