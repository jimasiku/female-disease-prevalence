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Female-to-male ratio</c:v>
                </c:pt>
              </c:strCache>
            </c:strRef>
          </c:tx>
          <c:spPr>
            <a:solidFill>
              <a:srgbClr val="7B5EA7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Alzheimer's Disease</c:v>
                </c:pt>
                <c:pt idx="1">
                  <c:v>Major Depression</c:v>
                </c:pt>
                <c:pt idx="2">
                  <c:v>Migraine</c:v>
                </c:pt>
                <c:pt idx="3">
                  <c:v>Osteoporosis</c:v>
                </c:pt>
                <c:pt idx="4">
                  <c:v>Systemic Lupus Erythematosus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4.5</c:v>
                </c:pt>
                <c:pt idx="4">
                  <c:v>9.0</c:v>
                </c:pt>
              </c:numCache>
            </c:numRef>
          </c:val>
        </c:ser>
        <c:dLbls>
          <c:numFmt formatCode="0.0&quot;x&quot;" sourceLinked="0"/>
          <c:txPr>
            <a:bodyPr/>
            <a:lstStyle/>
            <a:p>
              <a:pPr>
                <a:defRPr sz="1600" b="1">
                  <a:solidFill>
                    <a:srgbClr val="3D2B56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C2C2C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0.0"/>
        </c:scaling>
        <c:delete/>
        <c:axPos val="b"/>
        <c:majorGridlines/>
        <c:majorTickMark val="none"/>
        <c:minorTickMark val="none"/>
        <c:tickLblPos val="nextTo"/>
        <c:txPr>
          <a:bodyPr/>
          <a:lstStyle/>
          <a:p>
            <a:pPr>
              <a:defRPr sz="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B5EA7"/>
                </a:solidFill>
                <a:latin typeface="Calibri"/>
              </a:rPr>
              <a:t>A 3-MINUTE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3D2B56"/>
                </a:solidFill>
                <a:latin typeface="Calibri"/>
              </a:rPr>
              <a:t>Diabetes was the question.
The answer is much bigger than diabetes.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8A838"/>
                </a:solidFill>
                <a:latin typeface="Calibri"/>
              </a:rPr>
              <a:t>Big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C2C2C"/>
                </a:solidFill>
                <a:latin typeface="Calibri"/>
              </a:rPr>
              <a:t>The same female-skewed health burden that shows up in Zambia's diabetes numbers runs through five of the most disabling diseases of modern life — and the world still designs medicine, research and screening as if it didn't.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Female disease prevalence  ·  Five conditions, one pattern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B5EA7"/>
                </a:solidFill>
                <a:latin typeface="Calibri"/>
              </a:rPr>
              <a:t>THE HOOK  ·  Diabesity Zambia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3D2B56"/>
                </a:solidFill>
                <a:latin typeface="Calibri"/>
              </a:rPr>
              <a:t>Zambia's 2017 STEPS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0" b="1">
                <a:solidFill>
                  <a:srgbClr val="E8A838"/>
                </a:solidFill>
                <a:latin typeface="Calibri"/>
              </a:rPr>
              <a:t>24%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2C2C2C"/>
                </a:solidFill>
                <a:latin typeface="Calibri"/>
              </a:rPr>
              <a:t>more women than men carried multiple non-communicable disease risk factors — and female diabetes prevalence ran 3.0% vs 2.1% in men.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Source: Pengpid S, Peltzer K. Prevalence and correlates of multiple non-communicable disease risk factors among adults in Zambia: results of the first national STEPS survey in 2017. PMC, 2021  ·  https://www.ncbi.nlm.nih.gov/pmc/articles/PMC7864270/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B5EA7"/>
                </a:solidFill>
                <a:latin typeface="Calibri"/>
              </a:rPr>
              <a:t>THE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3D2B56"/>
                </a:solidFill>
                <a:latin typeface="Calibri"/>
              </a:rPr>
              <a:t>Female-to-male prevalence ratio, five conditions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783080"/>
          <a:ext cx="105156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62636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Each bar = how many times more common the condition is in women than men.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3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3D2B56"/>
                </a:solidFill>
                <a:latin typeface="Calibri"/>
              </a:rPr>
              <a:t>AUTOIMMUNE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3D2B56"/>
                </a:solidFill>
                <a:latin typeface="Calibri"/>
              </a:rPr>
              <a:t>Systemic Lupus Erythematosus (Lupus)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C2C2C"/>
                </a:solidFill>
                <a:latin typeface="Calibri"/>
              </a:rPr>
              <a:t>A chronic autoimmune disease where the body's immune system attacks its own tissues — skin, joints, kidneys, heart and brain.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0" b="1">
                <a:solidFill>
                  <a:srgbClr val="E8A838"/>
                </a:solidFill>
                <a:latin typeface="Calibri"/>
              </a:rPr>
              <a:t>9:1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7B5EA7"/>
                </a:solidFill>
                <a:latin typeface="Calibri"/>
              </a:rPr>
              <a:t>female-to-male prevalence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3D2B56"/>
                </a:solidFill>
                <a:latin typeface="Calibri"/>
              </a:rPr>
              <a:t>Nine out of every ten people living with lupus are women.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[1] Sex- and gender-related differences in systemic lupus erythematosus: a scoping review (PMC, 2024)  ·  https://pmc.ncbi.nlm.nih.gov/articles/PMC12204902/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3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3D2B56"/>
                </a:solidFill>
                <a:latin typeface="Calibri"/>
              </a:rPr>
              <a:t>MUSCULOSKELETAL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B5EA7"/>
                </a:solidFill>
                <a:latin typeface="Calibri"/>
              </a:rPr>
              <a:t>female-to-male ratio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0" b="1">
                <a:solidFill>
                  <a:srgbClr val="E8A838"/>
                </a:solidFill>
                <a:latin typeface="Calibri"/>
              </a:rPr>
              <a:t>4.5:1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18872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D2B56"/>
                </a:solidFill>
                <a:latin typeface="Calibri"/>
              </a:rPr>
              <a:t>Osteoporosis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377440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C2C2C"/>
                </a:solidFill>
                <a:latin typeface="Calibri"/>
              </a:rPr>
              <a:t>A silent bone-thinning disease that makes fractures much more likely after age 50 — often discovered only after a broken hip or wrist.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4389120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3D2B56"/>
                </a:solidFill>
                <a:latin typeface="Calibri"/>
              </a:rPr>
              <a:t>Women over 50 carry roughly 4.5x the diagnosed osteoporosis risk of men.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[2] Sarafrazi N, Wambogo EA, Shepherd JA. Osteoporosis or Low Bone Mass in Older Adults, United States, 2017-2018. CDC NCHS Data Brief No. 405, 2021  ·  https://www.cdc.gov/nchs/products/databriefs/db405.htm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3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3D2B56"/>
                </a:solidFill>
                <a:latin typeface="Calibri"/>
              </a:rPr>
              <a:t>NEUROLOGICAL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B5EA7"/>
                </a:solidFill>
                <a:latin typeface="Calibri"/>
              </a:rPr>
              <a:t>female-to-male ratio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0" b="1">
                <a:solidFill>
                  <a:srgbClr val="E8A838"/>
                </a:solidFill>
                <a:latin typeface="Calibri"/>
              </a:rPr>
              <a:t>3:1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D2B56"/>
                </a:solidFill>
                <a:latin typeface="Calibri"/>
              </a:rPr>
              <a:t>Migraine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C2C2C"/>
                </a:solidFill>
                <a:latin typeface="Calibri"/>
              </a:rPr>
              <a:t>More than a bad headache — recurring, often disabling neurological attacks with nausea, light and sound sensitivity that can last for days.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D2B56"/>
                </a:solidFill>
                <a:latin typeface="Calibri"/>
              </a:rPr>
              <a:t>Migraine is the leading cause of disability for women under 50 worldwide.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[3] Buse DC et al. Sex differences in the prevalence, symptoms, and associated features of migraine — AMPP Study. PubMed, 2013  ·  https://pubmed.ncbi.nlm.nih.gov/23808666/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3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3D2B56"/>
                </a:solidFill>
                <a:latin typeface="Calibri"/>
              </a:rPr>
              <a:t>NEURODEGENERATIVE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56692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D2B56"/>
                </a:solidFill>
                <a:latin typeface="Calibri"/>
              </a:rPr>
              <a:t>Alzheimer's Disease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56692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C2C2C"/>
                </a:solidFill>
                <a:latin typeface="Calibri"/>
              </a:rPr>
              <a:t>A progressive brain disease that destroys memory and thinking — the most common cause of dementia in older adults.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46320"/>
            <a:ext cx="5669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D2B56"/>
                </a:solidFill>
                <a:latin typeface="Calibri"/>
              </a:rPr>
              <a:t>By age 45, a woman's lifetime risk of Alzheimer's is 1 in 5 — twice a man's.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188720"/>
            <a:ext cx="4663440" cy="4937760"/>
          </a:xfrm>
          <a:prstGeom prst="roundRect">
            <a:avLst>
              <a:gd name="adj" fmla="val 6000"/>
            </a:avLst>
          </a:prstGeom>
          <a:solidFill>
            <a:srgbClr val="F3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55448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7B5EA7"/>
                </a:solidFill>
                <a:latin typeface="Calibri"/>
              </a:rPr>
              <a:t>LIFETIME RISK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103120"/>
            <a:ext cx="46634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0" b="1">
                <a:solidFill>
                  <a:srgbClr val="E8A838"/>
                </a:solidFill>
                <a:latin typeface="Calibri"/>
              </a:rPr>
              <a:t>2:1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411480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7B5EA7"/>
                </a:solidFill>
                <a:latin typeface="Calibri"/>
              </a:rPr>
              <a:t>female : male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4754880"/>
            <a:ext cx="4663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2C2C2C"/>
                </a:solidFill>
                <a:latin typeface="Calibri"/>
              </a:rPr>
              <a:t>1 in 5 women  vs  1 in 10 men carry a lifetime Alzheimer's risk from age 45.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[4] Alzheimer's disease as a women's health challenge (PMC, 2024)  ·  https://pmc.ncbi.nlm.nih.gov/articles/PMC11106001/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3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3D2B56"/>
                </a:solidFill>
                <a:latin typeface="Calibri"/>
              </a:rPr>
              <a:t>MENTAL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B5EA7"/>
                </a:solidFill>
                <a:latin typeface="Calibri"/>
              </a:rPr>
              <a:t>female-to-male ratio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0" b="1">
                <a:solidFill>
                  <a:srgbClr val="E8A838"/>
                </a:solidFill>
                <a:latin typeface="Calibri"/>
              </a:rPr>
              <a:t>2:1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18872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D2B56"/>
                </a:solidFill>
                <a:latin typeface="Calibri"/>
              </a:rPr>
              <a:t>Major Depression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377440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C2C2C"/>
                </a:solidFill>
                <a:latin typeface="Calibri"/>
              </a:rPr>
              <a:t>A persistent mood disorder that affects how a person feels, thinks and handles daily life — far more than just sadness.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4389120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3D2B56"/>
                </a:solidFill>
                <a:latin typeface="Calibri"/>
              </a:rPr>
              <a:t>Twice as many women as men live with depression — in nearly every country measured.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[5] Albert PR. Why is depression more prevalent in women? Journal of Psychiatry &amp; Neuroscience. PMC, 2015  ·  https://pmc.ncbi.nlm.nih.gov/articles/PMC4478054/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B5EA7"/>
                </a:solidFill>
                <a:latin typeface="Calibri"/>
              </a:rPr>
              <a:t>THE SO-WHAT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8A838"/>
                </a:solidFill>
                <a:latin typeface="Calibri"/>
              </a:rPr>
              <a:t>Big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3D2B56"/>
                </a:solidFill>
                <a:latin typeface="Calibri"/>
              </a:rPr>
              <a:t>The same female-skewed health burden that shows up in Zambia's diabetes numbers runs through five of the most disabling diseases of modern life — and the world still designs medicine, research and screening as if it didn't.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754880"/>
            <a:ext cx="10515600" cy="1463040"/>
          </a:xfrm>
          <a:prstGeom prst="roundRect">
            <a:avLst>
              <a:gd name="adj" fmla="val 6000"/>
            </a:avLst>
          </a:prstGeom>
          <a:solidFill>
            <a:srgbClr val="F3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937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8A838"/>
                </a:solidFill>
                <a:latin typeface="Calibri"/>
              </a:rPr>
              <a:t>ONE 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3492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2C2C2C"/>
                </a:solidFill>
                <a:latin typeface="Calibri"/>
              </a:rPr>
              <a:t>Make sex-disaggregated reporting the default in every NCD surveillance round — starting with Zambia's next STEPS — so the burden women carry stops hiding in the totals.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3D2B56"/>
                </a:solidFill>
                <a:latin typeface="Calibri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3D2B56"/>
                </a:solidFill>
                <a:latin typeface="Calibri"/>
              </a:rPr>
              <a:t>[1] Systemic Lupus Erythematosus (Lupus) — </a:t>
            </a:r>
            <a:r>
              <a:rPr sz="1100">
                <a:solidFill>
                  <a:srgbClr val="2C2C2C"/>
                </a:solidFill>
                <a:latin typeface="Calibri"/>
              </a:rPr>
              <a:t>Sex- and gender-related differences in systemic lupus erythematosus: a scoping review (PMC, 2024).  https://pmc.ncbi.nlm.nih.gov/articles/PMC12204902/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3D2B56"/>
                </a:solidFill>
                <a:latin typeface="Calibri"/>
              </a:rPr>
              <a:t>[2] Osteoporosis — </a:t>
            </a:r>
            <a:r>
              <a:rPr sz="1100">
                <a:solidFill>
                  <a:srgbClr val="2C2C2C"/>
                </a:solidFill>
                <a:latin typeface="Calibri"/>
              </a:rPr>
              <a:t>Sarafrazi N, Wambogo EA, Shepherd JA. Osteoporosis or Low Bone Mass in Older Adults, United States, 2017-2018. CDC NCHS Data Brief No. 405, 2021.  https://www.cdc.gov/nchs/products/databriefs/db405.htm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3D2B56"/>
                </a:solidFill>
                <a:latin typeface="Calibri"/>
              </a:rPr>
              <a:t>[3] Migraine — </a:t>
            </a:r>
            <a:r>
              <a:rPr sz="1100">
                <a:solidFill>
                  <a:srgbClr val="2C2C2C"/>
                </a:solidFill>
                <a:latin typeface="Calibri"/>
              </a:rPr>
              <a:t>Buse DC et al. Sex differences in the prevalence, symptoms, and associated features of migraine — AMPP Study. PubMed, 2013.  https://pubmed.ncbi.nlm.nih.gov/23808666/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3D2B56"/>
                </a:solidFill>
                <a:latin typeface="Calibri"/>
              </a:rPr>
              <a:t>[4] Alzheimer's Disease — </a:t>
            </a:r>
            <a:r>
              <a:rPr sz="1100">
                <a:solidFill>
                  <a:srgbClr val="2C2C2C"/>
                </a:solidFill>
                <a:latin typeface="Calibri"/>
              </a:rPr>
              <a:t>Alzheimer's disease as a women's health challenge (PMC, 2024).  https://pmc.ncbi.nlm.nih.gov/articles/PMC11106001/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3D2B56"/>
                </a:solidFill>
                <a:latin typeface="Calibri"/>
              </a:rPr>
              <a:t>[5] Major Depression — </a:t>
            </a:r>
            <a:r>
              <a:rPr sz="1100">
                <a:solidFill>
                  <a:srgbClr val="2C2C2C"/>
                </a:solidFill>
                <a:latin typeface="Calibri"/>
              </a:rPr>
              <a:t>Albert PR. Why is depression more prevalent in women? Journal of Psychiatry &amp; Neuroscience. PMC, 2015.  https://pmc.ncbi.nlm.nih.gov/articles/PMC4478054/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3D2B56"/>
                </a:solidFill>
                <a:latin typeface="Calibri"/>
              </a:rPr>
              <a:t>[H] Hook — Zambia STEPS 2017 — </a:t>
            </a:r>
            <a:r>
              <a:rPr sz="1100">
                <a:solidFill>
                  <a:srgbClr val="2C2C2C"/>
                </a:solidFill>
                <a:latin typeface="Calibri"/>
              </a:rPr>
              <a:t>Pengpid S, Peltzer K. Prevalence and correlates of multiple non-communicable disease risk factors among adults in Zambia: results of the first national STEPS survey in 2017. PMC, 2021.  https://www.ncbi.nlm.nih.gov/pmc/articles/PMC7864270/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All sources accessed via PubMed Central, CDC NCHS, and peer-reviewed journals.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